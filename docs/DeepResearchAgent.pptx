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3.xml" ContentType="application/vnd.openxmlformats-officedocument.drawingml.chart+xml"/>
  <Override PartName="/ppt/notesSlides/notesSlide20.xml" ContentType="application/vnd.openxmlformats-officedocument.presentationml.notesSlide+xml"/>
  <Override PartName="/ppt/charts/chart4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5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62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620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recall@k</c:v>
                </c:pt>
                <c:pt idx="1">
                  <c:v>relevance</c:v>
                </c:pt>
                <c:pt idx="2">
                  <c:v>panel 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0.33</c:v>
                </c:pt>
                <c:pt idx="1">
                  <c:v>0.92</c:v>
                </c:pt>
                <c:pt idx="2">
                  <c:v>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CF-6741-83D5-6AEDBF4880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Tavily</c:v>
                </c:pt>
              </c:strCache>
            </c:strRef>
          </c:tx>
          <c:spPr>
            <a:solidFill>
              <a:srgbClr val="B07A0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620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recall@k</c:v>
                </c:pt>
                <c:pt idx="1">
                  <c:v>relevance</c:v>
                </c:pt>
                <c:pt idx="2">
                  <c:v>panel score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0.25</c:v>
                </c:pt>
                <c:pt idx="1">
                  <c:v>0.76</c:v>
                </c:pt>
                <c:pt idx="2">
                  <c:v>0.77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CF-6741-83D5-6AEDBF4880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5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6DEE7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1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620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Grounding (0–2)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620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Llama 4 Maverick</c:v>
                </c:pt>
                <c:pt idx="1">
                  <c:v>Haiku 4.5</c:v>
                </c:pt>
                <c:pt idx="2">
                  <c:v>Mistral Large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1.24</c:v>
                </c:pt>
                <c:pt idx="1">
                  <c:v>0.97</c:v>
                </c:pt>
                <c:pt idx="2">
                  <c:v>0.94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B4-D14B-9D36-0B47861C69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Atomicity (0–1)</c:v>
                </c:pt>
              </c:strCache>
            </c:strRef>
          </c:tx>
          <c:spPr>
            <a:solidFill>
              <a:srgbClr val="B07A0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620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Llama 4 Maverick</c:v>
                </c:pt>
                <c:pt idx="1">
                  <c:v>Haiku 4.5</c:v>
                </c:pt>
                <c:pt idx="2">
                  <c:v>Mistral Large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</c:v>
                </c:pt>
                <c:pt idx="1">
                  <c:v>0.74</c:v>
                </c:pt>
                <c:pt idx="2">
                  <c:v>0.73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B4-D14B-9D36-0B47861C69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5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7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1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620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620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3-model panel</c:v>
                </c:pt>
                <c:pt idx="1">
                  <c:v>v0 ✓</c:v>
                </c:pt>
                <c:pt idx="2">
                  <c:v>v1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0.81499999999999995</c:v>
                </c:pt>
                <c:pt idx="1">
                  <c:v>0.83899999999999997</c:v>
                </c:pt>
                <c:pt idx="2">
                  <c:v>0.83399999999999996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7E-0C4B-8EF7-54C641C634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AUROC</c:v>
                </c:pt>
              </c:strCache>
            </c:strRef>
          </c:tx>
          <c:spPr>
            <a:solidFill>
              <a:srgbClr val="B07A0C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620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3-model panel</c:v>
                </c:pt>
                <c:pt idx="1">
                  <c:v>v0 ✓</c:v>
                </c:pt>
                <c:pt idx="2">
                  <c:v>v1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0.93600000000000005</c:v>
                </c:pt>
                <c:pt idx="1">
                  <c:v>0.96599999999999997</c:v>
                </c:pt>
                <c:pt idx="2">
                  <c:v>0.96199999999999997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7E-0C4B-8EF7-54C641C634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5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D6DEE7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1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620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EBM (0–1)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0">
                    <a:solidFill>
                      <a:srgbClr val="1620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without</c:v>
                </c:pt>
                <c:pt idx="1">
                  <c:v>baseline</c:v>
                </c:pt>
                <c:pt idx="2">
                  <c:v>corrected</c:v>
                </c:pt>
                <c:pt idx="3">
                  <c:v>v0</c:v>
                </c:pt>
                <c:pt idx="4">
                  <c:v>v1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</c:v>
                </c:pt>
                <c:pt idx="1">
                  <c:v>0.81</c:v>
                </c:pt>
                <c:pt idx="2">
                  <c:v>0.79</c:v>
                </c:pt>
                <c:pt idx="3">
                  <c:v>0.88</c:v>
                </c:pt>
                <c:pt idx="4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B0-D043-963E-8F5336CDFB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relevance (1–5)</c:v>
                </c:pt>
              </c:strCache>
            </c:strRef>
          </c:tx>
          <c:spPr>
            <a:solidFill>
              <a:srgbClr val="B07A0C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850"/>
                      <a:t>4.73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2B0-D043-963E-8F5336CDFBF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50"/>
                      <a:t>4.63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2B0-D043-963E-8F5336CDFBF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50"/>
                      <a:t>4.66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2B0-D043-963E-8F5336CDFBF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50"/>
                      <a:t>4.57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2B0-D043-963E-8F5336CDFBF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50"/>
                      <a:t>4.04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2B0-D043-963E-8F5336CDFBF3}"/>
                </c:ext>
              </c:extLst>
            </c:dLbl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0">
                    <a:solidFill>
                      <a:srgbClr val="1620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without</c:v>
                </c:pt>
                <c:pt idx="1">
                  <c:v>baseline</c:v>
                </c:pt>
                <c:pt idx="2">
                  <c:v>corrected</c:v>
                </c:pt>
                <c:pt idx="3">
                  <c:v>v0</c:v>
                </c:pt>
                <c:pt idx="4">
                  <c:v>v1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0.94599999999999995</c:v>
                </c:pt>
                <c:pt idx="1">
                  <c:v>0.92600000000000005</c:v>
                </c:pt>
                <c:pt idx="2">
                  <c:v>0.93200000000000005</c:v>
                </c:pt>
                <c:pt idx="3">
                  <c:v>0.91400000000000003</c:v>
                </c:pt>
                <c:pt idx="4">
                  <c:v>0.80800000000000005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2B0-D043-963E-8F5336CDFB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quality (1–5)</c:v>
                </c:pt>
              </c:strCache>
            </c:strRef>
          </c:tx>
          <c:spPr>
            <a:solidFill>
              <a:srgbClr val="5A6B7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850"/>
                      <a:t>4.12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2B0-D043-963E-8F5336CDFBF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50"/>
                      <a:t>3.90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2B0-D043-963E-8F5336CDFBF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50"/>
                      <a:t>4.11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2B0-D043-963E-8F5336CDFBF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50"/>
                      <a:t>4.03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2B0-D043-963E-8F5336CDFBF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50"/>
                      <a:t>2.62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2B0-D043-963E-8F5336CDFBF3}"/>
                </c:ext>
              </c:extLst>
            </c:dLbl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0">
                    <a:solidFill>
                      <a:srgbClr val="1620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without</c:v>
                </c:pt>
                <c:pt idx="1">
                  <c:v>baseline</c:v>
                </c:pt>
                <c:pt idx="2">
                  <c:v>corrected</c:v>
                </c:pt>
                <c:pt idx="3">
                  <c:v>v0</c:v>
                </c:pt>
                <c:pt idx="4">
                  <c:v>v1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0.82399999999999995</c:v>
                </c:pt>
                <c:pt idx="1">
                  <c:v>0.78</c:v>
                </c:pt>
                <c:pt idx="2">
                  <c:v>0.82199999999999995</c:v>
                </c:pt>
                <c:pt idx="3">
                  <c:v>0.80600000000000005</c:v>
                </c:pt>
                <c:pt idx="4">
                  <c:v>0.52400000000000002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2B0-D043-963E-8F5336CDFB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5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D6DEE7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1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620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Ours (corrected)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0">
                    <a:solidFill>
                      <a:srgbClr val="1620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FRAMES accuracy</c:v>
                </c:pt>
                <c:pt idx="1">
                  <c:v>TruthfulQA accuracy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0.41</c:v>
                </c:pt>
                <c:pt idx="1">
                  <c:v>0.49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33-8446-96C3-F068FBC15E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 (v0)</c:v>
                </c:pt>
              </c:strCache>
            </c:strRef>
          </c:tx>
          <c:spPr>
            <a:solidFill>
              <a:srgbClr val="1F9D5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0">
                    <a:solidFill>
                      <a:srgbClr val="1620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FRAMES accuracy</c:v>
                </c:pt>
                <c:pt idx="1">
                  <c:v>TruthfulQA accuracy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0.44</c:v>
                </c:pt>
                <c:pt idx="1">
                  <c:v>0.49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33-8446-96C3-F068FBC15E9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Perplexity</c:v>
                </c:pt>
              </c:strCache>
            </c:strRef>
          </c:tx>
          <c:spPr>
            <a:solidFill>
              <a:srgbClr val="B07A0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0">
                    <a:solidFill>
                      <a:srgbClr val="1620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FRAMES accuracy</c:v>
                </c:pt>
                <c:pt idx="1">
                  <c:v>TruthfulQA accuracy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0.46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33-8446-96C3-F068FBC15E9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OpenAI (search)</c:v>
                </c:pt>
              </c:strCache>
            </c:strRef>
          </c:tx>
          <c:spPr>
            <a:solidFill>
              <a:srgbClr val="56657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50" b="0">
                    <a:solidFill>
                      <a:srgbClr val="1620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FRAMES accuracy</c:v>
                </c:pt>
                <c:pt idx="1">
                  <c:v>TruthfulQA accuracy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0.69</c:v>
                </c:pt>
                <c:pt idx="1">
                  <c:v>0.77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333-8446-96C3-F068FBC15E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5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D6DEE7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1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620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7036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987552"/>
            <a:ext cx="777240" cy="411480"/>
          </a:xfrm>
          <a:prstGeom prst="line">
            <a:avLst/>
          </a:prstGeom>
          <a:noFill/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82912" y="1874520"/>
            <a:ext cx="1097280" cy="365760"/>
          </a:xfrm>
          <a:prstGeom prst="line">
            <a:avLst/>
          </a:prstGeom>
          <a:noFill/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80192" y="1444752"/>
            <a:ext cx="228600" cy="777240"/>
          </a:xfrm>
          <a:prstGeom prst="line">
            <a:avLst/>
          </a:prstGeom>
          <a:noFill/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22992" y="1874520"/>
            <a:ext cx="713232" cy="347472"/>
          </a:xfrm>
          <a:prstGeom prst="line">
            <a:avLst/>
          </a:prstGeom>
          <a:noFill/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784080" y="91440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607040" y="1371600"/>
            <a:ext cx="146304" cy="146304"/>
          </a:xfrm>
          <a:prstGeom prst="ellipse">
            <a:avLst/>
          </a:prstGeom>
          <a:solidFill>
            <a:srgbClr val="B07A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09760" y="1828800"/>
            <a:ext cx="146304" cy="146304"/>
          </a:xfrm>
          <a:prstGeom prst="ellipse">
            <a:avLst/>
          </a:prstGeom>
          <a:solidFill>
            <a:srgbClr val="93A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881360" y="219456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149840" y="246888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247120" y="1005840"/>
            <a:ext cx="146304" cy="146304"/>
          </a:xfrm>
          <a:prstGeom prst="ellipse">
            <a:avLst/>
          </a:prstGeom>
          <a:solidFill>
            <a:srgbClr val="93A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Research Agent</a:t>
            </a:r>
            <a:endParaRPr lang="en-US" sz="500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3840480" cy="0"/>
          </a:xfrm>
          <a:prstGeom prst="line">
            <a:avLst/>
          </a:prstGeom>
          <a:noFill/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5138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Anna John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55229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Labs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2991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" y="1984248"/>
            <a:ext cx="548640" cy="548640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2126894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66490" y="19293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41248" y="2569464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41248" y="2816352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reports, unverified claims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80890" y="1783080"/>
            <a:ext cx="342991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82058" y="1984248"/>
            <a:ext cx="548640" cy="548640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705" y="2126894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07301" y="19293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582058" y="2569464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 &amp; the gap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582058" y="2816352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current agents fall short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21701" y="1783080"/>
            <a:ext cx="342991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322869" y="1984248"/>
            <a:ext cx="548640" cy="548640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5515" y="2126894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48111" y="19293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322869" y="2569464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verifiable reports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8322869" y="2816352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checked, confidence calibrated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40080" y="3355848"/>
            <a:ext cx="342991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841248" y="3557016"/>
            <a:ext cx="548640" cy="548640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94" y="3699662"/>
            <a:ext cx="263347" cy="26334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466490" y="3502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841248" y="4142232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MVP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841248" y="438912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security, scalability, cost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380890" y="3355848"/>
            <a:ext cx="342991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4582058" y="3557016"/>
            <a:ext cx="548640" cy="548640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4705" y="3699662"/>
            <a:ext cx="263347" cy="263347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207301" y="3502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27"/>
          <p:cNvSpPr/>
          <p:nvPr/>
        </p:nvSpPr>
        <p:spPr>
          <a:xfrm>
            <a:off x="4582058" y="4142232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450" dirty="0"/>
          </a:p>
        </p:txBody>
      </p:sp>
      <p:sp>
        <p:nvSpPr>
          <p:cNvPr id="35" name="Text 28"/>
          <p:cNvSpPr/>
          <p:nvPr/>
        </p:nvSpPr>
        <p:spPr>
          <a:xfrm>
            <a:off x="4582058" y="438912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to evidence-backed report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8121701" y="3355848"/>
            <a:ext cx="342991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8322869" y="3557016"/>
            <a:ext cx="548640" cy="548640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5515" y="3699662"/>
            <a:ext cx="263347" cy="263347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0948111" y="3502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0" name="Text 32"/>
          <p:cNvSpPr/>
          <p:nvPr/>
        </p:nvSpPr>
        <p:spPr>
          <a:xfrm>
            <a:off x="8322869" y="4142232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450" dirty="0"/>
          </a:p>
        </p:txBody>
      </p:sp>
      <p:sp>
        <p:nvSpPr>
          <p:cNvPr id="41" name="Text 33"/>
          <p:cNvSpPr/>
          <p:nvPr/>
        </p:nvSpPr>
        <p:spPr>
          <a:xfrm>
            <a:off x="8322869" y="438912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with small experiments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640080" y="4928616"/>
            <a:ext cx="342991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5"/>
          <p:cNvSpPr/>
          <p:nvPr/>
        </p:nvSpPr>
        <p:spPr>
          <a:xfrm>
            <a:off x="841248" y="5129784"/>
            <a:ext cx="548640" cy="548640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3894" y="5272430"/>
            <a:ext cx="263347" cy="263347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3466490" y="5074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6" name="Text 37"/>
          <p:cNvSpPr/>
          <p:nvPr/>
        </p:nvSpPr>
        <p:spPr>
          <a:xfrm>
            <a:off x="841248" y="571500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&amp; its ablations</a:t>
            </a:r>
            <a:endParaRPr lang="en-US" sz="1450" dirty="0"/>
          </a:p>
        </p:txBody>
      </p:sp>
      <p:sp>
        <p:nvSpPr>
          <p:cNvPr id="47" name="Text 38"/>
          <p:cNvSpPr/>
          <p:nvPr/>
        </p:nvSpPr>
        <p:spPr>
          <a:xfrm>
            <a:off x="841248" y="5961888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on, off, improved, trained small</a:t>
            </a:r>
            <a:endParaRPr lang="en-US" sz="1050" dirty="0"/>
          </a:p>
        </p:txBody>
      </p:sp>
      <p:sp>
        <p:nvSpPr>
          <p:cNvPr id="48" name="Shape 39"/>
          <p:cNvSpPr/>
          <p:nvPr/>
        </p:nvSpPr>
        <p:spPr>
          <a:xfrm>
            <a:off x="4380890" y="4928616"/>
            <a:ext cx="342991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0"/>
          <p:cNvSpPr/>
          <p:nvPr/>
        </p:nvSpPr>
        <p:spPr>
          <a:xfrm>
            <a:off x="4582058" y="5129784"/>
            <a:ext cx="548640" cy="548640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4705" y="5272430"/>
            <a:ext cx="263347" cy="263347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207301" y="5074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52" name="Text 42"/>
          <p:cNvSpPr/>
          <p:nvPr/>
        </p:nvSpPr>
        <p:spPr>
          <a:xfrm>
            <a:off x="4582058" y="571500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1450" dirty="0"/>
          </a:p>
        </p:txBody>
      </p:sp>
      <p:sp>
        <p:nvSpPr>
          <p:cNvPr id="53" name="Text 43"/>
          <p:cNvSpPr/>
          <p:nvPr/>
        </p:nvSpPr>
        <p:spPr>
          <a:xfrm>
            <a:off x="4582058" y="5961888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layers, DRA-Bench, baselines</a:t>
            </a:r>
            <a:endParaRPr lang="en-US" sz="1050" dirty="0"/>
          </a:p>
        </p:txBody>
      </p:sp>
      <p:sp>
        <p:nvSpPr>
          <p:cNvPr id="54" name="Shape 44"/>
          <p:cNvSpPr/>
          <p:nvPr/>
        </p:nvSpPr>
        <p:spPr>
          <a:xfrm>
            <a:off x="8121701" y="4928616"/>
            <a:ext cx="342991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45"/>
          <p:cNvSpPr/>
          <p:nvPr/>
        </p:nvSpPr>
        <p:spPr>
          <a:xfrm>
            <a:off x="8322869" y="5129784"/>
            <a:ext cx="548640" cy="548640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5515" y="5272430"/>
            <a:ext cx="263347" cy="263347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10948111" y="5074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58" name="Text 47"/>
          <p:cNvSpPr/>
          <p:nvPr/>
        </p:nvSpPr>
        <p:spPr>
          <a:xfrm>
            <a:off x="8322869" y="571500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extensions</a:t>
            </a:r>
            <a:endParaRPr lang="en-US" sz="1450" dirty="0"/>
          </a:p>
        </p:txBody>
      </p:sp>
      <p:sp>
        <p:nvSpPr>
          <p:cNvPr id="59" name="Text 48"/>
          <p:cNvSpPr/>
          <p:nvPr/>
        </p:nvSpPr>
        <p:spPr>
          <a:xfrm>
            <a:off x="8322869" y="5961888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bounded, and what's next</a:t>
            </a:r>
            <a:endParaRPr lang="en-US" sz="1050" dirty="0"/>
          </a:p>
        </p:txBody>
      </p:sp>
      <p:sp>
        <p:nvSpPr>
          <p:cNvPr id="60" name="Text 4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61" name="Text 5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agents synthesize well, but don't verify claims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1860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1965960"/>
            <a:ext cx="487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39–77%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59536" y="2606040"/>
            <a:ext cx="487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cited facts actually check out — even when the links themselves are valid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783080"/>
            <a:ext cx="5318608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52464" y="1965960"/>
            <a:ext cx="487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sources ≠ grounding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52464" y="2569464"/>
            <a:ext cx="487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drops sharply as the agent takes more search steps — gathering 20+ sources doesn't fix 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109115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agents decompose a question, search broadly, and synthesize fluent, well-cited reports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there is no per-claim check that each statement is actually entailed by its cited source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absent or uncalibrated — no reliable measure of certainty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Self-grading and same-family judge panels agree with each other, not with ground truth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deployed system combines claim-checking, calibrated confidence, and adaptive search in one loop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 — and the gap we target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27228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/ confidence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Recursive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dzhng/deep-research, GPT-Researcher Deep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· no confidence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Plan-and-execute (most common)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GPT-Researcher, LangChain Open DR, AWS Strands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per-claim confidence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Multi-perspective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Stanford STORM, Co-STORM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07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explicit fact-checking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Self-trained (RL)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Search-R1, Tongyi DeepResearch, WebThinker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07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results; require large-scale RL post-training — heavy to reproduce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Perplexity, OpenAI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07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box — grounding not shown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074920"/>
            <a:ext cx="10911535" cy="1097280"/>
          </a:xfrm>
          <a:prstGeom prst="roundRect">
            <a:avLst>
              <a:gd name="adj" fmla="val 7500"/>
            </a:avLst>
          </a:prstGeom>
          <a:solidFill>
            <a:srgbClr val="E8F3F1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96112" y="5349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" y="549188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5257800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blocker is measurable verification, not raw capability.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45920" y="5641848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combine claim-checking, calibrated per-claim confidence, and adaptive search, evaluated end-to-end — to tell </a:t>
            </a: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apart from correct</a:t>
            </a:r>
            <a:r>
              <a:rPr lang="en-US" sz="125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No widely-available system reports all three.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verifiable deep research agent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 question → output a structured report where every claim is backed by a source.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3003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6112" y="2404872"/>
            <a:ext cx="566928" cy="566928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13" y="2552273"/>
            <a:ext cx="272125" cy="2721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9344" y="2441448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32688" y="3172968"/>
            <a:ext cx="471510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claim is checked against its evidence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Weakly-supported claims trigger another round of searching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51296" y="2148840"/>
            <a:ext cx="53003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507328" y="2404872"/>
            <a:ext cx="566928" cy="566928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729" y="2552273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20560" y="2441448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543904" y="3172968"/>
            <a:ext cx="471510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carries a confidence score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says plainly when the evidence is thin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" y="4663440"/>
            <a:ext cx="10911535" cy="1280160"/>
          </a:xfrm>
          <a:prstGeom prst="roundRect">
            <a:avLst>
              <a:gd name="adj" fmla="val 6429"/>
            </a:avLst>
          </a:prstGeom>
          <a:solidFill>
            <a:srgbClr val="E8F3F1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914400" y="4828032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is not writing — it is verification.  </a:t>
            </a: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evaluation is the backbone of the whole project: quality is made measurable at train-time (a learned verifier), at answer-time (calibrated confidence + adaptive search), and offline (an evaluation harness).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914400" y="5522976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vs. buy:  </a:t>
            </a:r>
            <a:r>
              <a:rPr lang="en-US" sz="125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search (a commodity); build the hard parts — verification, the search loop, report writing, and evaluation.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MVP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MVP: toward a complete system</a:t>
            </a:r>
            <a:endParaRPr lang="en-US" sz="3000" dirty="0"/>
          </a:p>
        </p:txBody>
      </p:sp>
      <p:sp>
        <p:nvSpPr>
          <p:cNvPr id="490" name="Intro"/>
          <p:cNvSpPr txBox="1"/>
          <p:nvPr/>
        </p:nvSpPr>
        <p:spPr>
          <a:xfrm>
            <a:off x="640080" y="1600200"/>
            <a:ext cx="10911535" cy="329184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centers on verification. A production system would also need to address four areas:</a:t>
            </a:r>
          </a:p>
        </p:txBody>
      </p:sp>
      <p:sp>
        <p:nvSpPr>
          <p:cNvPr id="500" name="Safety BG"/>
          <p:cNvSpPr/>
          <p:nvPr/>
        </p:nvSpPr>
        <p:spPr>
          <a:xfrm>
            <a:off x="640080" y="2080000"/>
            <a:ext cx="5300320" cy="18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501" name="Safety Head"/>
          <p:cNvSpPr txBox="1"/>
          <p:nvPr/>
        </p:nvSpPr>
        <p:spPr>
          <a:xfrm>
            <a:off x="900080" y="2230000"/>
            <a:ext cx="4780320" cy="33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</a:p>
        </p:txBody>
      </p:sp>
      <p:sp>
        <p:nvSpPr>
          <p:cNvPr id="502" name="Safety Bullets"/>
          <p:cNvSpPr txBox="1"/>
          <p:nvPr/>
        </p:nvSpPr>
        <p:spPr>
          <a:xfrm>
            <a:off x="900080" y="2640000"/>
            <a:ext cx="4780320" cy="12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inputs and outputs; refuse harmful requests</a:t>
            </a:r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 when evidence is insufficient — no fabrication</a:t>
            </a:r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for high-stakes domains (medical, legal)</a:t>
            </a:r>
          </a:p>
        </p:txBody>
      </p:sp>
      <p:sp>
        <p:nvSpPr>
          <p:cNvPr id="510" name="Security BG"/>
          <p:cNvSpPr/>
          <p:nvPr/>
        </p:nvSpPr>
        <p:spPr>
          <a:xfrm>
            <a:off x="6251296" y="2080000"/>
            <a:ext cx="5300320" cy="18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511" name="Security Head"/>
          <p:cNvSpPr txBox="1"/>
          <p:nvPr/>
        </p:nvSpPr>
        <p:spPr>
          <a:xfrm>
            <a:off x="6511296" y="2230000"/>
            <a:ext cx="4780320" cy="33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guardrails</a:t>
            </a:r>
          </a:p>
        </p:txBody>
      </p:sp>
      <p:sp>
        <p:nvSpPr>
          <p:cNvPr id="512" name="Security Bullets"/>
          <p:cNvSpPr txBox="1"/>
          <p:nvPr/>
        </p:nvSpPr>
        <p:spPr>
          <a:xfrm>
            <a:off x="6511296" y="2640000"/>
            <a:ext cx="4780320" cy="12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retrieved text as data, not instructions (injection defense)</a:t>
            </a:r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allow-listing and domain-reputation weighting</a:t>
            </a:r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tools, authentication, and rate limiting</a:t>
            </a:r>
          </a:p>
        </p:txBody>
      </p:sp>
      <p:sp>
        <p:nvSpPr>
          <p:cNvPr id="520" name="Scalability BG"/>
          <p:cNvSpPr/>
          <p:nvPr/>
        </p:nvSpPr>
        <p:spPr>
          <a:xfrm>
            <a:off x="640080" y="4080000"/>
            <a:ext cx="5300320" cy="18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521" name="Scalability Head"/>
          <p:cNvSpPr txBox="1"/>
          <p:nvPr/>
        </p:nvSpPr>
        <p:spPr>
          <a:xfrm>
            <a:off x="900080" y="4230000"/>
            <a:ext cx="4780320" cy="33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</a:p>
        </p:txBody>
      </p:sp>
      <p:sp>
        <p:nvSpPr>
          <p:cNvPr id="522" name="Scalability Bullets"/>
          <p:cNvSpPr txBox="1"/>
          <p:nvPr/>
        </p:nvSpPr>
        <p:spPr>
          <a:xfrm>
            <a:off x="900080" y="4640000"/>
            <a:ext cx="4780320" cy="12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parallel sub-query execution</a:t>
            </a:r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retrieval and verifier outputs across queries</a:t>
            </a:r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verifier inference; queueing with backpressure</a:t>
            </a:r>
          </a:p>
        </p:txBody>
      </p:sp>
      <p:sp>
        <p:nvSpPr>
          <p:cNvPr id="530" name="Optimization BG"/>
          <p:cNvSpPr/>
          <p:nvPr/>
        </p:nvSpPr>
        <p:spPr>
          <a:xfrm>
            <a:off x="6251296" y="4080000"/>
            <a:ext cx="5300320" cy="18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531" name="Optimization Head"/>
          <p:cNvSpPr txBox="1"/>
          <p:nvPr/>
        </p:nvSpPr>
        <p:spPr>
          <a:xfrm>
            <a:off x="6511296" y="4230000"/>
            <a:ext cx="4780320" cy="33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(cost &amp; latency)</a:t>
            </a:r>
          </a:p>
        </p:txBody>
      </p:sp>
      <p:sp>
        <p:nvSpPr>
          <p:cNvPr id="532" name="Optimization Bullets"/>
          <p:cNvSpPr txBox="1"/>
          <p:nvPr/>
        </p:nvSpPr>
        <p:spPr>
          <a:xfrm>
            <a:off x="6511296" y="4640000"/>
            <a:ext cx="4780320" cy="12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trained verifier replaces the LLM panel (~130× cheaper)</a:t>
            </a:r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difficulty; early-exit when confidence is high</a:t>
            </a:r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and context compression to cut tokens</a:t>
            </a:r>
          </a:p>
        </p:txBody>
      </p:sp>
      <p:sp>
        <p:nvSpPr>
          <p:cNvPr id="70" name="Text 5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71" name="Text 5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question to evidence-backed report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3592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94944" y="1783080"/>
            <a:ext cx="112619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57718" y="2084832"/>
            <a:ext cx="237744" cy="23774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22310" y="1783080"/>
            <a:ext cx="123592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77174" y="1783080"/>
            <a:ext cx="112619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39948" y="2084832"/>
            <a:ext cx="237744" cy="23774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04540" y="1783080"/>
            <a:ext cx="123592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59404" y="1783080"/>
            <a:ext cx="112619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Sub-query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2178" y="2084832"/>
            <a:ext cx="237744" cy="23774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86770" y="1783080"/>
            <a:ext cx="123592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1634" y="1783080"/>
            <a:ext cx="112619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04408" y="2084832"/>
            <a:ext cx="237744" cy="23774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69000" y="1783080"/>
            <a:ext cx="1235926" cy="841248"/>
          </a:xfrm>
          <a:prstGeom prst="roundRect">
            <a:avLst>
              <a:gd name="adj" fmla="val 8696"/>
            </a:avLst>
          </a:prstGeom>
          <a:solidFill>
            <a:srgbClr val="E8F3F1"/>
          </a:solidFill>
          <a:ln w="15875">
            <a:solidFill>
              <a:srgbClr val="0D9488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23864" y="1783080"/>
            <a:ext cx="112619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86638" y="2084832"/>
            <a:ext cx="237744" cy="23774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51229" y="1783080"/>
            <a:ext cx="1235926" cy="841248"/>
          </a:xfrm>
          <a:prstGeom prst="roundRect">
            <a:avLst>
              <a:gd name="adj" fmla="val 8696"/>
            </a:avLst>
          </a:prstGeom>
          <a:solidFill>
            <a:srgbClr val="E8F3F1"/>
          </a:solidFill>
          <a:ln w="15875">
            <a:solidFill>
              <a:srgbClr val="0D9488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06093" y="1783080"/>
            <a:ext cx="112619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768867" y="2084832"/>
            <a:ext cx="237744" cy="23774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933459" y="1783080"/>
            <a:ext cx="123592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988323" y="1783080"/>
            <a:ext cx="112619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151097" y="2084832"/>
            <a:ext cx="237744" cy="23774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315689" y="1783080"/>
            <a:ext cx="1235926" cy="841248"/>
          </a:xfrm>
          <a:prstGeom prst="roundRect">
            <a:avLst>
              <a:gd name="adj" fmla="val 8696"/>
            </a:avLst>
          </a:prstGeom>
          <a:solidFill>
            <a:srgbClr val="E8F3F1"/>
          </a:solidFill>
          <a:ln w="15875">
            <a:solidFill>
              <a:srgbClr val="0D9488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370553" y="1783080"/>
            <a:ext cx="112619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3794760"/>
            <a:ext cx="530032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77824" y="4014216"/>
            <a:ext cx="475488" cy="475488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51" y="4137843"/>
            <a:ext cx="228234" cy="22823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481328" y="4032504"/>
            <a:ext cx="429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transparent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914400" y="4663440"/>
            <a:ext cx="4751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evaluation harness that breaks any report into claims and scores them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shows its own calibrated confidence score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251296" y="3794760"/>
            <a:ext cx="530032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489040" y="4014216"/>
            <a:ext cx="475488" cy="475488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666" y="4137843"/>
            <a:ext cx="228234" cy="228234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7092544" y="4032504"/>
            <a:ext cx="429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reliable</a:t>
            </a:r>
            <a:endParaRPr lang="en-US" sz="1500" dirty="0"/>
          </a:p>
        </p:txBody>
      </p:sp>
      <p:sp>
        <p:nvSpPr>
          <p:cNvPr id="40" name="Text 36"/>
          <p:cNvSpPr/>
          <p:nvPr/>
        </p:nvSpPr>
        <p:spPr>
          <a:xfrm>
            <a:off x="6525616" y="4663440"/>
            <a:ext cx="4751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labels every claim: supported, refuted, contested, or insufficient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 flags when sources or claims disagree with each other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engine: Exa vs Tavily (12-query bake-off)</a:t>
            </a:r>
            <a:endParaRPr lang="en-US" sz="3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828800"/>
          <a:ext cx="6400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360920" y="1828800"/>
            <a:ext cx="4190695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580376" y="1975104"/>
            <a:ext cx="37517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(latency p50)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0376" y="2286000"/>
            <a:ext cx="37517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1.4s</a:t>
            </a:r>
            <a:r>
              <a:rPr lang="en-US" sz="13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Exa     </a:t>
            </a:r>
            <a:r>
              <a:rPr lang="en-US" sz="260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3.5s</a:t>
            </a:r>
            <a:r>
              <a:rPr lang="en-US" sz="13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Tavily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7360920" y="3291840"/>
            <a:ext cx="4190695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580376" y="3456432"/>
            <a:ext cx="457200" cy="457200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357530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65592" y="3419856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80376" y="3822192"/>
            <a:ext cx="37517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— rate-limited; zero usable passages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0080" y="4800600"/>
            <a:ext cx="109115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 outperformed Tavily on recall, relevance, and latency (1.4s vs 3.5s); four independent judges preferred Exa's passages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Exa "highlights" — short word-for-word excerpts aimed at the question — so citations stay exact and context stays small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defaults: 5 sources per sub-question · ~2,000 characters each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decomposer: splitting into sub-queries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911535" cy="658368"/>
          </a:xfrm>
          <a:prstGeom prst="roundRect">
            <a:avLst>
              <a:gd name="adj" fmla="val 12500"/>
            </a:avLst>
          </a:prstGeom>
          <a:solidFill>
            <a:srgbClr val="E8F3F1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decomposer splits a question into sub-queries, each retrieved separately.  </a:t>
            </a: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far more distinct, relevant sources at the same budget.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05840" y="274320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9443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005840" y="3767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from one broad query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03320" y="3355848"/>
            <a:ext cx="237744" cy="23774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950208" y="3355848"/>
            <a:ext cx="329184" cy="32918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26280" y="274320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E8F3F1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6280" y="29443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27–36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4526280" y="3767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sources, little overlap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0" y="2834640"/>
            <a:ext cx="47850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3–4× more distinct, relevant sources than a single whole-question search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key papers the broad search misses entirely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over-split: a simple factual question stays a single query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extractor: choosing the model</a:t>
            </a:r>
            <a:endParaRPr lang="en-US" sz="3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828800"/>
          <a:ext cx="65836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1828800"/>
            <a:ext cx="400781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63256" y="1956816"/>
            <a:ext cx="35689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MODEL OVER-REACHES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63256" y="2212848"/>
            <a:ext cx="35689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r>
              <a:rPr lang="en-US" sz="14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more claims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763256" y="2743200"/>
            <a:ext cx="35689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(675B) asserts specifics from parametric memory and attaches citations after the fact — many unsupported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543800" y="3429000"/>
            <a:ext cx="400781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grounding at the smallest size — Llama produced the best-grounded, most self-contained claims, and all three judges agreed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became the claim extractor; Mistral moved to the verifier panel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adherence: formatting kept out of retrieval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94944" y="182880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04288" y="2075688"/>
            <a:ext cx="237744" cy="23774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15184" y="182880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 w="15875">
            <a:solidFill>
              <a:srgbClr val="0D9488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70048" y="182880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9744" y="1325880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9744" y="2331720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request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52544" y="2194560"/>
            <a:ext cx="402336" cy="0"/>
          </a:xfrm>
          <a:prstGeom prst="line">
            <a:avLst/>
          </a:prstGeom>
          <a:noFill/>
          <a:ln w="1905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52544" y="2194560"/>
            <a:ext cx="402336" cy="502920"/>
          </a:xfrm>
          <a:prstGeom prst="line">
            <a:avLst/>
          </a:prstGeom>
          <a:noFill/>
          <a:ln w="1905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89520" y="1572768"/>
            <a:ext cx="237744" cy="23774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589520" y="2578608"/>
            <a:ext cx="237744" cy="237744"/>
          </a:xfrm>
          <a:prstGeom prst="chevron">
            <a:avLst/>
          </a:prstGeom>
          <a:solidFill>
            <a:srgbClr val="B07A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00416" y="132588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55280" y="1325880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00416" y="233172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55280" y="2331720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246120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E8F3F1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32461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is routed only to report composition — never to retrieval.  </a:t>
            </a: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"add a diagram" cannot change which sources get retrieved — we verified the retrieval is identical with and without the formatting request.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4251960"/>
            <a:ext cx="109115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writer produces the prose and any diagram/table; a separate, rule-based step builds the claim table, citations, and disclaimers — so those cannot be paraphrased or invented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sentence in the report must point to a real verified claim — an automatic check flags any that do not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pipeline, with the model behind each step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417712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94944" y="2020824"/>
            <a:ext cx="130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94944" y="2441448"/>
            <a:ext cx="130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02928" y="2327148"/>
            <a:ext cx="237744" cy="23774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22384" y="1874520"/>
            <a:ext cx="1417712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77248" y="2020824"/>
            <a:ext cx="130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decomposer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77248" y="2441448"/>
            <a:ext cx="130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Maverick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85232" y="2327148"/>
            <a:ext cx="237744" cy="23774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04688" y="1874520"/>
            <a:ext cx="1417712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59552" y="2020824"/>
            <a:ext cx="130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59552" y="2441448"/>
            <a:ext cx="130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67536" y="2327148"/>
            <a:ext cx="237744" cy="23774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86992" y="1874520"/>
            <a:ext cx="1417712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41856" y="2020824"/>
            <a:ext cx="130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extractor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41856" y="2441448"/>
            <a:ext cx="130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Maverick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49840" y="2327148"/>
            <a:ext cx="237744" cy="23774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69296" y="1874520"/>
            <a:ext cx="1417712" cy="1143000"/>
          </a:xfrm>
          <a:prstGeom prst="roundRect">
            <a:avLst>
              <a:gd name="adj" fmla="val 7200"/>
            </a:avLst>
          </a:prstGeom>
          <a:solidFill>
            <a:srgbClr val="E8F3F1"/>
          </a:solidFill>
          <a:ln w="15875">
            <a:solidFill>
              <a:srgbClr val="0D9488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24160" y="2020824"/>
            <a:ext cx="130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024160" y="2441448"/>
            <a:ext cx="130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of 3: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· Mistral · Nova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332143" y="2327148"/>
            <a:ext cx="237744" cy="23774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551599" y="1874520"/>
            <a:ext cx="1417712" cy="1143000"/>
          </a:xfrm>
          <a:prstGeom prst="roundRect">
            <a:avLst>
              <a:gd name="adj" fmla="val 7200"/>
            </a:avLst>
          </a:prstGeom>
          <a:solidFill>
            <a:srgbClr val="E8F3F1"/>
          </a:solidFill>
          <a:ln w="15875">
            <a:solidFill>
              <a:srgbClr val="0D9488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06463" y="2020824"/>
            <a:ext cx="130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06463" y="2441448"/>
            <a:ext cx="130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panel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914447" y="2327148"/>
            <a:ext cx="237744" cy="23774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133903" y="1874520"/>
            <a:ext cx="1417712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188767" y="2020824"/>
            <a:ext cx="130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composition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188767" y="2441448"/>
            <a:ext cx="130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Maverick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3291840"/>
            <a:ext cx="109115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Maverick handles decomposition, claim extraction, and report composition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is a panel of three different model families (Sonnet, Mistral, Nova) that vote on each claim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Extractor, verifier, and evaluation judges are deliberately different families, so their biases do not align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dedicated verifier was trained to replace the three-model panel — next section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verifier does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19293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9536" y="22402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+ the sources it cites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0" y="2350008"/>
            <a:ext cx="237744" cy="23774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51960" y="1783080"/>
            <a:ext cx="2926080" cy="1371600"/>
          </a:xfrm>
          <a:prstGeom prst="roundRect">
            <a:avLst>
              <a:gd name="adj" fmla="val 6000"/>
            </a:avLst>
          </a:prstGeom>
          <a:solidFill>
            <a:srgbClr val="E8F3F1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80560" y="2240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2359152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7492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7492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sources,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the claim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269480" y="2350008"/>
            <a:ext cx="237744" cy="237744"/>
          </a:xfrm>
          <a:prstGeom prst="chevron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680960" y="178308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9D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68096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9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400032" y="178308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400032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680960" y="2459736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7A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680960" y="24597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contested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400032" y="2459736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7A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400032" y="24597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680960" y="3172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 confidence score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0080" y="3657600"/>
            <a:ext cx="109115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judges only against the provided evidence — not the model's own background knowledge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produces the per-claim labels and calibrated confidence used throughout the report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there are no per-claim labels (supported / refuted / contested / insufficient) at all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it two ways: on its own (Layer-1), and inside the full pipeline (Layer-2)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versions we compared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35204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achieves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93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verifier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shown to the reader unchecked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— no grounding or per-claim labels at 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07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verifier (prompted)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pipeline — three large models check every claim and flag conflicts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per-claim labels (supported / refuted / contested / insufficient), but flags too many settled facts as "contested"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 verifier (prompted)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Same, with a better conflict-flagging prompt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the labels and fixes the over-flagging — restoring report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 — trained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 DeBERTa-v3 cross-encoder (~184M) on FEVER + SciFact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the three-model macro-F1, well-calibrated, ~130× faster &amp; cheaper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— trained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Same, plus synthetic hard-negatives + an evidence-ablated curriculum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cautious — declines when evidence is weak; slightly weaker on the clean test 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— TRAINING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trained the small verifier (v0 and v1)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11535" cy="713232"/>
          </a:xfrm>
          <a:prstGeom prst="roundRect">
            <a:avLst>
              <a:gd name="adj" fmla="val 11538"/>
            </a:avLst>
          </a:prstGeom>
          <a:solidFill>
            <a:srgbClr val="E8F3F1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7824" y="181965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38528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691640"/>
            <a:ext cx="98142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— DeBERTa-v3-base cross-encoder (~184M).  </a:t>
            </a: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(claim, passage) pair together → a 3-way label {supported · refuted · not-enough-info}.  512-token limit.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53003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96112" y="2825496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96112" y="282549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920240" y="2843784"/>
            <a:ext cx="379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fine-tuning on public fact-checking pairs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32688" y="3355848"/>
            <a:ext cx="4751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(~137k) + SciFact (~2.5k)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(claim, single passage) pair per labelled evidence sentence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51296" y="2606040"/>
            <a:ext cx="53003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507328" y="2825496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B07A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07328" y="282549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31456" y="2843784"/>
            <a:ext cx="379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v0's data + examples matching our pipeline's evidence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543904" y="3355848"/>
            <a:ext cx="4751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607 synthetic hard-negatives — near-miss false claims over real passages, kept only when an independent judge agrees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~15k evidence-ablated curriculum — same claim with full / partial / no evidence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40080" y="4553712"/>
            <a:ext cx="10911535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96112" y="4681728"/>
            <a:ext cx="104543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CALIBRATION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96112" y="4919472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cross-entropy · class-balanced sampling · 3 epochs · lr 2e-5 · fp16 · early-stop on held-out macro-F1 · one A100 per model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96112" y="5193792"/>
            <a:ext cx="103994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 </a:t>
            </a: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 so confidence is calibrated. </a:t>
            </a:r>
            <a:r>
              <a:rPr lang="en-US" sz="110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"Contested" </a:t>
            </a: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derived at inference (passages vote both supported and refuted). </a:t>
            </a:r>
            <a:r>
              <a:rPr lang="en-US" sz="110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leakage </a:t>
            </a: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trained only on train splits + a held-out pool, never on any benchmark.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 the verifier — two layers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003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2020824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20208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3160" y="2020824"/>
            <a:ext cx="328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on its own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651760"/>
            <a:ext cx="4751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labelled fact-checking datasets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(1,000 claims) + SciFact (300), plus a built set of "contested" cases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accuracy, calibration of its confidence, and speed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51296" y="1783080"/>
            <a:ext cx="53003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07328" y="2020824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B07A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07328" y="20208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34376" y="2020824"/>
            <a:ext cx="328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full pipeline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25616" y="2651760"/>
            <a:ext cx="4751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finished reports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DRA-Bench — our own 250-question benchmark (next slide)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(multi-step questions) + TruthfulQA (common misconceptions)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Perplexity, OpenAI, and a Claude-Sonnet reference report are scored through the same harness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DRA-BENCH (OUR CONTRIBUTION)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DRA-Bench — measuring expected behavior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questions in 5 types. </a:t>
            </a:r>
            <a:r>
              <a:rPr lang="en-US" sz="125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carries an expected-behavior label — answer confidently, flag a genuine disagreement, or abstain. Existing benchmarks do not measure this.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12848"/>
          <a:ext cx="10908792" cy="345643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behavior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question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technical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9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confidently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clearly when the science is 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“How does self-attention work in transformers?”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pros &amp; cons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 both sides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a balanced view of a two-sided question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“Pros and cons of microservices vs a monolith?”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contradictory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07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the conflict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genuine disagreement between good sources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“Does moderate alcohol help the heart, or raise mortality?”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unanswerable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abstain (cannot tell)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abstain instead of fabricating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is the best programming language?”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needs a visual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+ use the 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and honor a table/diagram request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“Compare AWS / Azure / GCP in a table.”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METRICS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and what each measures</a:t>
            </a:r>
            <a:endParaRPr lang="en-US" sz="27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908792" cy="352958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Expected-Behavior Match (EBM)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report's claim labels match the expected behavior — flag a conflict, abstain on a gap, or answer confidently? Read directly from the labels.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 (+ hallucination, citation P/R)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each claim actually backed by the source it cites? Graded by an independent model, not the verifier itself.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(1–5)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report answer the question asked? Graded by a blind 3-judge panel.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(1–5)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clear, well-organized, and complete? Same 3-judge panel.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adherence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report follow explicit format requests — a table, a diagram, a length limit?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accuracy + abstention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fact-QA: did it reach the right answer — and is a safe "I don't know" counted as fine, not wrong?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Similarity-to-gold (coverage)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facts in a strong reference report did ours include?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(ECE)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the confidence scores calibrated — does "70%" mean right about 70% of the time?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RESULTS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Layer-1: a small trained verifier matches three large models — ~130× faster</a:t>
            </a:r>
            <a:endParaRPr lang="en-US" sz="2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783080"/>
          <a:ext cx="61264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086600" y="1783080"/>
            <a:ext cx="4465015" cy="1325880"/>
          </a:xfrm>
          <a:prstGeom prst="roundRect">
            <a:avLst>
              <a:gd name="adj" fmla="val 6207"/>
            </a:avLst>
          </a:prstGeom>
          <a:solidFill>
            <a:srgbClr val="E8F3F1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24344" y="1920240"/>
            <a:ext cx="40078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(latency p50)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24344" y="2176272"/>
            <a:ext cx="4007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~130×</a:t>
            </a:r>
            <a:r>
              <a:rPr lang="en-US" sz="16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faster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324344" y="2761488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2,485 ms (panel)  →  19 ms (v0/v1)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086600" y="3246120"/>
            <a:ext cx="4465015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24344" y="3364992"/>
            <a:ext cx="40078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RANKING (higher is better)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324344" y="3657600"/>
            <a:ext cx="4007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0.839</a:t>
            </a:r>
            <a:r>
              <a:rPr lang="en-US" sz="11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macro-F1</a:t>
            </a: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0.966</a:t>
            </a:r>
            <a:r>
              <a:rPr lang="en-US" sz="11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AUROC</a:t>
            </a:r>
            <a:r>
              <a:rPr lang="en-US" sz="1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24344" y="406908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✓ matches the panel (0.815); AUROC 0.966 vs 0.936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" y="4754880"/>
            <a:ext cx="109115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reaches the same macro-F1 as the three-model panel (0.839 vs 0.815) with stronger ranking (AUROC 0.966 vs 0.936)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decisive win is speed and cost: one small model on our own GPU replaces three large-model calls per claim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v1's extra pipeline-distribution training didn't help on this clean test set — it is simply more cautious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RESULTS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Layer-2 — DRA-Bench: five versions of the pipeline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828800"/>
          <a:ext cx="694944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828800"/>
            <a:ext cx="377921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991856" y="1956816"/>
            <a:ext cx="334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(1–5)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991856" y="2212848"/>
            <a:ext cx="33403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4.03</a:t>
            </a:r>
            <a:r>
              <a:rPr lang="en-US" sz="10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v0 ✓</a:t>
            </a: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2.62</a:t>
            </a:r>
            <a:r>
              <a:rPr lang="en-US" sz="10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v1 ▼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772400" y="3310128"/>
            <a:ext cx="3779215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991856" y="3419856"/>
            <a:ext cx="334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HELD STEADY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991856" y="3675888"/>
            <a:ext cx="33403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adherence 1.00 all five · grounding ≈ 0.95 · hallucination ≈ 0.03 (verifier-agnostic)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4754880"/>
            <a:ext cx="109115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verifier creates the behavior signal — EBM jumps from 0.60 (off) to 0.79–0.91 (on)</a:t>
            </a:r>
            <a:endParaRPr lang="en-US" sz="11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reaches the highest usable EBM (0.88) while holding quality (4.03) and relevance on par with corrected — selected as the default verifier</a:t>
            </a:r>
            <a:endParaRPr lang="en-US" sz="11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scores the highest raw EBM (0.91) but quality collapses to 2.62 — it over-flags claims as refuted (discussion slide)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RESULTS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testing (DRA-Bench, paired)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tests (paired-t for 1–5 scores, McNemar for the EBM label) with Holm correction. Only the comparisons that matter shown; p_adj = Holm-adjusted p-value.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08792" cy="331012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 vs without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McNemar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9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 (p_adj = 8×10⁻¹¹)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 vs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(1–5)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paired-t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3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 (p_adj = 7×10⁻⁶)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 vs corrected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McNemar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9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 (p_adj = 8×10⁻⁴)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 vs corrected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(1–5)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paired-t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07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 (p_adj = 0.21) — preserved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vs corrected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(1–5)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paired-t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07A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 (p_adj = 6×10⁻⁶⁵) — collapse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 vs v1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(1–5)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paired-t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3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 (p_adj = 1×10⁻⁶³)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 vs v1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McNemar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3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tied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486400"/>
            <a:ext cx="109115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corrected fix is real — the quality gain over the over-flagging version is significant while the behavior signal is preserved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significantly raises EBM over corrected (+0.088) with quality statistically unchanged (p_adj = 0.21) — higher behavior-match at no quality cost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vs v1: v1's quality drop is highly significant (−1.49); v0 exceeds v1 on quality (+1.41) while their EBM is statistically tied — so v0 is preferred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RESULTS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DRA-Bench — what the verifier comparison tells us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300320" cy="1360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7824" y="2029968"/>
            <a:ext cx="566928" cy="566928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225" y="2177369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27632" y="1956816"/>
            <a:ext cx="411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identical across versions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627632" y="2395728"/>
            <a:ext cx="41116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per claim; the verifier labels claims, never authors them, so claim-level grounding can't move with the verifier (verifier-agnostic by construction)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51296" y="1737360"/>
            <a:ext cx="5300320" cy="1360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89040" y="2029968"/>
            <a:ext cx="566928" cy="566928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441" y="2177369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38848" y="1956816"/>
            <a:ext cx="411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over-refutes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238848" y="2395728"/>
            <a:ext cx="41116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in-distribution training marks 14–16 of ~20 claims "refuted"; the report contradicts itself, so independent judges score every v1 report 2/5 (near-unusable)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3209544"/>
            <a:ext cx="5300320" cy="1360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77824" y="3502152"/>
            <a:ext cx="566928" cy="566928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225" y="364955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27632" y="3429000"/>
            <a:ext cx="411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and v0 balance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627632" y="3867912"/>
            <a:ext cx="41116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lift EBM while keeping relevance on par and quality usable (4.0–4.1); v0 adds +0.088 EBM over corrected at no significant quality cost — so v0 is selected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51296" y="3209544"/>
            <a:ext cx="5300320" cy="1360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489040" y="3502152"/>
            <a:ext cx="566928" cy="566928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6441" y="3649553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38848" y="3429000"/>
            <a:ext cx="411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adherence (1.00) by design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238848" y="3867912"/>
            <a:ext cx="41116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pulled out of retrieval/verification, applied as a separate step at report composition — 1.00 vs 0.60 for commercial systems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40080" y="4681728"/>
            <a:ext cx="5300320" cy="1360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877824" y="4974336"/>
            <a:ext cx="566928" cy="566928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225" y="5121737"/>
            <a:ext cx="272125" cy="27212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27632" y="4901184"/>
            <a:ext cx="411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only where it matters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1627632" y="5340096"/>
            <a:ext cx="41116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&gt; corrected on EBM (p_adj 8×10⁻⁴); v1 quality drop (6×10⁻⁶⁵); v0 far exceeds v1 on quality (1×10⁻⁶³); corrected-vs-v0 quality not significant (quality preserved)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RESULTS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Layer-2: vs Perplexity &amp; OpenAI (DRA-Bench)</a:t>
            </a:r>
            <a:endParaRPr lang="en-US" sz="27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3063240"/>
        </p:xfrm>
        <a:graphic>
          <a:graphicData uri="http://schemas.openxmlformats.org/drawingml/2006/table">
            <a:tbl>
              <a:tblPr/>
              <a:tblGrid>
                <a:gridCol w="3776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(DRA-Bench)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(1–5)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(1–5)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adherence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(corrected)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(v0 — selected)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46955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(search)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reference (ceiling)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665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7337" y="5056632"/>
            <a:ext cx="109115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(the selected trained verifier) is on par with corrected — relevance/quality within ~0.1, structural adherence 1.00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and OpenAI score somewhat higher on writing quality (fluent prose); this work scores higher on structural adherence (1.00 vs 0.60)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distinguishing capability — exposed per-claim grounding and expected-behavior match — cannot be measured on a black-box system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RESULTS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Layer-2: answer accuracy vs Perplexity &amp; OpenAI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= multi-step factual questions.  TruthfulQA = common-misconception questions.  100 each.  Accuracy = a judge comparing the full report to the gold answer (replaces brittle exact-match, which understated accuracy).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2148840"/>
          <a:ext cx="676656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7591530" y="2642717"/>
            <a:ext cx="396209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systems lead on multi-step FRAMES (Perplexity 0.46, OpenAI 0.69) and on TruthfulQA (0.70 / 0.77)</a:t>
            </a:r>
            <a:endParaRPr lang="en-US" sz="11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Judge-based scoring (vs gold) replaces brittle exact-match, which badly understated accuracy — especially on TruthfulQA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RESULTS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 vs a strong reference report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compared the pipeline's reports to Claude-Sonnet reference reports for the same 237 DRA-Bench questions, counting how many of the reference's facts the pipeline's reports also contain.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45429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28,794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59536" y="3310128"/>
            <a:ext cx="3015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in the Sonnet reference reports (~121 per report)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8698" y="2286000"/>
            <a:ext cx="345429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51578" y="256032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2,895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88154" y="3310128"/>
            <a:ext cx="3015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facts covered by the pipeline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7317" y="2286000"/>
            <a:ext cx="3454298" cy="1554480"/>
          </a:xfrm>
          <a:prstGeom prst="roundRect">
            <a:avLst>
              <a:gd name="adj" fmla="val 5294"/>
            </a:avLst>
          </a:prstGeom>
          <a:solidFill>
            <a:srgbClr val="E8F3F1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80197" y="2560320"/>
            <a:ext cx="3088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316773" y="3310128"/>
            <a:ext cx="3015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109115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pipeline's reports miss roughly 90% of the facts a strong reference report includes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holds with or without the verifier — so it is not a verifier problem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search-breadth gap: a single search engine doesn't fetch enough distinct sources, and fetching deeper from the same engine doesn't help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broader, more diverse retrieval — the clearest next step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RESULTS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selected: v0 — and both evaluation layers agree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8182"/>
            </a:avLst>
          </a:prstGeom>
          <a:solidFill>
            <a:srgbClr val="E8F3F1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02996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37" y="216310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938528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00200" y="2231136"/>
            <a:ext cx="9677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matches the three-model panel on macro-F1 and AUROC (Layer-1) and significantly raises EBM over corrected at no quality cost (Layer-2).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3108960"/>
            <a:ext cx="109115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Layer-1 (verifier in isolation): v0 matches the three-model panel on macro-F1 (0.839) and exceeds it on ranking quality (AUROC 0.966 vs 0.936), at ~130× lower latency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Layer-2 (in the pipeline): v0 raises EBM over corrected (+0.088, significant) while holding quality (4.03) — the same verdict from the pipeline side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not selected: extra in-distribution training over-tuned it toward refutation (14–16 refuted/report), collapsing quality to 2.62 and making reports self-contradictory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layers point to the same choice — the extra in-distribution fine-tuning did not help; v0's broader training generalizes better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300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7824" y="2048256"/>
            <a:ext cx="530352" cy="530352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716" y="2186148"/>
            <a:ext cx="254569" cy="2545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91056" y="1956816"/>
            <a:ext cx="415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is essential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591056" y="2414016"/>
            <a:ext cx="415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source of per-claim labels (supported / refuted / contested / insufficient)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51296" y="1737360"/>
            <a:ext cx="5300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89040" y="2048256"/>
            <a:ext cx="530352" cy="530352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931" y="2186148"/>
            <a:ext cx="254569" cy="2545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02272" y="1956816"/>
            <a:ext cx="415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Conflict-flagging over-flags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202272" y="2414016"/>
            <a:ext cx="415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prompt fixes it without removing the step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3209544"/>
            <a:ext cx="5300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77824" y="3520440"/>
            <a:ext cx="530352" cy="530352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716" y="3658332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91056" y="3429000"/>
            <a:ext cx="415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must reach the prose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591056" y="3886200"/>
            <a:ext cx="415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labels don't help if the wording stays hedged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51296" y="3209544"/>
            <a:ext cx="5300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489040" y="3520440"/>
            <a:ext cx="530352" cy="530352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6931" y="3658332"/>
            <a:ext cx="254569" cy="25456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02272" y="3429000"/>
            <a:ext cx="415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is limited by retrieval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202272" y="3886200"/>
            <a:ext cx="415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verifier — this is the real ceiling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40080" y="4681728"/>
            <a:ext cx="5300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877824" y="4992624"/>
            <a:ext cx="530352" cy="530352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716" y="5130516"/>
            <a:ext cx="254569" cy="25456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91056" y="4901184"/>
            <a:ext cx="415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verifier matches the panel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1591056" y="5358384"/>
            <a:ext cx="415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far lower cost — a practical, cheaper replacement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251296" y="4681728"/>
            <a:ext cx="5300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6489040" y="4992624"/>
            <a:ext cx="530352" cy="530352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6931" y="5130516"/>
            <a:ext cx="254569" cy="254569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202272" y="4901184"/>
            <a:ext cx="415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may help on messy evidence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7202272" y="5358384"/>
            <a:ext cx="415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on clean tests, possibly better in the real pipeline (testing now)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300320" cy="1480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9536" y="2011680"/>
            <a:ext cx="493776" cy="493776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918" y="2140062"/>
            <a:ext cx="237012" cy="2370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6192" y="1920240"/>
            <a:ext cx="420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modality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36192" y="2304288"/>
            <a:ext cx="420304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cover English, text-only questions. The architecture extends to other languages and to image / table inputs — not yet evaluated.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51296" y="1737360"/>
            <a:ext cx="5300320" cy="1480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70752" y="2011680"/>
            <a:ext cx="493776" cy="493776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133" y="2140062"/>
            <a:ext cx="237012" cy="2370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47408" y="1920240"/>
            <a:ext cx="420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coverage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147408" y="2304288"/>
            <a:ext cx="420304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span three text-based benchmarks (DRA-Bench, FRAMES, TruthfulQA). Broader modalities and task types remain to be tested.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360000"/>
            <a:ext cx="5300320" cy="1560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59536" y="3634320"/>
            <a:ext cx="493776" cy="493776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918" y="3762702"/>
            <a:ext cx="237012" cy="2370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36192" y="3542880"/>
            <a:ext cx="420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independence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536192" y="3926928"/>
            <a:ext cx="4203040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components and evaluation judges use different model families. With many LLM touchpoints some provider overlap is unavoidable; qualitative analysis shows no systemic self-preference bias.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51296" y="3360000"/>
            <a:ext cx="5300320" cy="1560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D6DEE7"/>
            </a:solidFill>
            <a:prstDash val="solid"/>
          </a:ln>
          <a:effectLst>
            <a:outerShdw blurRad="101600" dist="25400" dir="5400000" algn="bl" rotWithShape="0">
              <a:srgbClr val="5A6B7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470752" y="3634320"/>
            <a:ext cx="493776" cy="493776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9133" y="3762702"/>
            <a:ext cx="237012" cy="2370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47408" y="3542880"/>
            <a:ext cx="420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vs over-flagging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147408" y="3926928"/>
            <a:ext cx="4203040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of verifier + contradiction detection layer leads to more transparency at the cost of over flagging claims as contested, refuted or with insufficient evidence. Handling this tradeoff better leads to a more optimal production ready solution.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retrieval</a:t>
            </a:r>
            <a:endParaRPr lang="en-US" sz="3000" dirty="0"/>
          </a:p>
        </p:txBody>
      </p:sp>
      <p:sp>
        <p:nvSpPr>
          <p:cNvPr id="600" name="Intro"/>
          <p:cNvSpPr txBox="1"/>
          <p:nvPr/>
        </p:nvSpPr>
        <p:spPr>
          <a:xfrm>
            <a:off x="640080" y="1590000"/>
            <a:ext cx="10911535" cy="98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— </a:t>
            </a:r>
            <a:r>
              <a:rPr lang="en-US" sz="12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fixed retrieval policy with one that decides when and how to search again — multiple engines, routing by question type, and re-querying when the verifier flags weak evidence.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builds on this work — </a:t>
            </a:r>
            <a:r>
              <a:rPr lang="en-US" sz="12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verifier already produces a per-claim support signal; that signal becomes the trigger for another retrieval round.</a:t>
            </a:r>
          </a:p>
        </p:txBody>
      </p:sp>
      <p:sp>
        <p:nvSpPr>
          <p:cNvPr id="610" name="Strengths BG"/>
          <p:cNvSpPr/>
          <p:nvPr/>
        </p:nvSpPr>
        <p:spPr>
          <a:xfrm>
            <a:off x="640080" y="2660000"/>
            <a:ext cx="5300320" cy="288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611" name="Strengths Head"/>
          <p:cNvSpPr txBox="1"/>
          <p:nvPr/>
        </p:nvSpPr>
        <p:spPr>
          <a:xfrm>
            <a:off x="920080" y="2860000"/>
            <a:ext cx="4740320" cy="36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9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</a:p>
        </p:txBody>
      </p:sp>
      <p:sp>
        <p:nvSpPr>
          <p:cNvPr id="612" name="Strengths Bullets"/>
          <p:cNvSpPr txBox="1"/>
          <p:nvPr/>
        </p:nvSpPr>
        <p:spPr>
          <a:xfrm>
            <a:off x="920080" y="3320000"/>
            <a:ext cx="4740320" cy="206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200000" indent="-200000">
              <a:lnSpc>
                <a:spcPct val="106000"/>
              </a:lnSpc>
              <a:spcAft>
                <a:spcPts val="9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raises the coverage ceiling identified earlier</a:t>
            </a:r>
          </a:p>
          <a:p>
            <a:pPr marL="200000" indent="-200000">
              <a:lnSpc>
                <a:spcPct val="106000"/>
              </a:lnSpc>
              <a:spcAft>
                <a:spcPts val="9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the existing verifier signal — no new reward model needed</a:t>
            </a:r>
          </a:p>
          <a:p>
            <a:pPr marL="200000" indent="-200000">
              <a:lnSpc>
                <a:spcPct val="106000"/>
              </a:lnSpc>
              <a:spcAft>
                <a:spcPts val="9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by question type sends each sub-query to the best engine</a:t>
            </a:r>
          </a:p>
        </p:txBody>
      </p:sp>
      <p:sp>
        <p:nvSpPr>
          <p:cNvPr id="620" name="Tradeoffs BG"/>
          <p:cNvSpPr/>
          <p:nvPr/>
        </p:nvSpPr>
        <p:spPr>
          <a:xfrm>
            <a:off x="6251296" y="2660000"/>
            <a:ext cx="5300320" cy="288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621" name="Tradeoffs Head"/>
          <p:cNvSpPr txBox="1"/>
          <p:nvPr/>
        </p:nvSpPr>
        <p:spPr>
          <a:xfrm>
            <a:off x="6531296" y="2860000"/>
            <a:ext cx="4740320" cy="36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/ risks</a:t>
            </a:r>
          </a:p>
        </p:txBody>
      </p:sp>
      <p:sp>
        <p:nvSpPr>
          <p:cNvPr id="622" name="Tradeoffs Bullets"/>
          <p:cNvSpPr txBox="1"/>
          <p:nvPr/>
        </p:nvSpPr>
        <p:spPr>
          <a:xfrm>
            <a:off x="6531296" y="3320000"/>
            <a:ext cx="4740320" cy="206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200000" indent="-200000">
              <a:lnSpc>
                <a:spcPct val="106000"/>
              </a:lnSpc>
              <a:spcAft>
                <a:spcPts val="9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beat the absolute search ceiling — if evidence is not indexed, smarter search does not help</a:t>
            </a:r>
          </a:p>
          <a:p>
            <a:pPr marL="200000" indent="-200000">
              <a:lnSpc>
                <a:spcPct val="106000"/>
              </a:lnSpc>
              <a:spcAft>
                <a:spcPts val="9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Re-querying adds latency and cost per question</a:t>
            </a:r>
          </a:p>
          <a:p>
            <a:pPr marL="200000" indent="-200000">
              <a:lnSpc>
                <a:spcPct val="106000"/>
              </a:lnSpc>
              <a:spcAft>
                <a:spcPts val="9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trigger can be gamed (loop until something passes) — needs a stop rule</a:t>
            </a:r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4754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Verifiers as process reward models</a:t>
            </a:r>
            <a:endParaRPr lang="en-US" sz="3000" dirty="0"/>
          </a:p>
        </p:txBody>
      </p:sp>
      <p:sp>
        <p:nvSpPr>
          <p:cNvPr id="600" name="Intro"/>
          <p:cNvSpPr txBox="1"/>
          <p:nvPr/>
        </p:nvSpPr>
        <p:spPr>
          <a:xfrm>
            <a:off x="640080" y="1590000"/>
            <a:ext cx="10911535" cy="98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— </a:t>
            </a:r>
            <a:r>
              <a:rPr lang="en-US" sz="12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trained verifier as a process reward model (PRM): score intermediate reasoning and search steps, not just final claims, to train the agent with RL.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builds on this work — </a:t>
            </a:r>
            <a:r>
              <a:rPr lang="en-US" sz="12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calibrated verifier already scores evidence sufficiency per claim; applied step-by-step it becomes a dense reward signal for a search-again controller.</a:t>
            </a:r>
          </a:p>
        </p:txBody>
      </p:sp>
      <p:sp>
        <p:nvSpPr>
          <p:cNvPr id="610" name="Strengths BG"/>
          <p:cNvSpPr/>
          <p:nvPr/>
        </p:nvSpPr>
        <p:spPr>
          <a:xfrm>
            <a:off x="640080" y="2660000"/>
            <a:ext cx="5300320" cy="288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611" name="Strengths Head"/>
          <p:cNvSpPr txBox="1"/>
          <p:nvPr/>
        </p:nvSpPr>
        <p:spPr>
          <a:xfrm>
            <a:off x="920080" y="2860000"/>
            <a:ext cx="4740320" cy="36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9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</a:p>
        </p:txBody>
      </p:sp>
      <p:sp>
        <p:nvSpPr>
          <p:cNvPr id="612" name="Strengths Bullets"/>
          <p:cNvSpPr txBox="1"/>
          <p:nvPr/>
        </p:nvSpPr>
        <p:spPr>
          <a:xfrm>
            <a:off x="920080" y="3320000"/>
            <a:ext cx="4740320" cy="206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200000" indent="-200000">
              <a:lnSpc>
                <a:spcPct val="106000"/>
              </a:lnSpc>
              <a:spcAft>
                <a:spcPts val="9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per-step reward instead of a single outcome reward</a:t>
            </a:r>
          </a:p>
          <a:p>
            <a:pPr marL="200000" indent="-200000">
              <a:lnSpc>
                <a:spcPct val="106000"/>
              </a:lnSpc>
              <a:spcAft>
                <a:spcPts val="9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the calibrated verifier already built and evaluated</a:t>
            </a:r>
          </a:p>
          <a:p>
            <a:pPr marL="200000" indent="-200000">
              <a:lnSpc>
                <a:spcPct val="106000"/>
              </a:lnSpc>
              <a:spcAft>
                <a:spcPts val="9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train a controller that learns when to search again</a:t>
            </a:r>
          </a:p>
        </p:txBody>
      </p:sp>
      <p:sp>
        <p:nvSpPr>
          <p:cNvPr id="620" name="Tradeoffs BG"/>
          <p:cNvSpPr/>
          <p:nvPr/>
        </p:nvSpPr>
        <p:spPr>
          <a:xfrm>
            <a:off x="6251296" y="2660000"/>
            <a:ext cx="5300320" cy="288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621" name="Tradeoffs Head"/>
          <p:cNvSpPr txBox="1"/>
          <p:nvPr/>
        </p:nvSpPr>
        <p:spPr>
          <a:xfrm>
            <a:off x="6531296" y="2860000"/>
            <a:ext cx="4740320" cy="36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0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/ risks</a:t>
            </a:r>
          </a:p>
        </p:txBody>
      </p:sp>
      <p:sp>
        <p:nvSpPr>
          <p:cNvPr id="622" name="Tradeoffs Bullets"/>
          <p:cNvSpPr txBox="1"/>
          <p:nvPr/>
        </p:nvSpPr>
        <p:spPr>
          <a:xfrm>
            <a:off x="6531296" y="3320000"/>
            <a:ext cx="4740320" cy="206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200000" indent="-200000">
              <a:lnSpc>
                <a:spcPct val="106000"/>
              </a:lnSpc>
              <a:spcAft>
                <a:spcPts val="9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validate that better evidence → higher score before using it as reward</a:t>
            </a:r>
          </a:p>
          <a:p>
            <a:pPr marL="200000" indent="-200000">
              <a:lnSpc>
                <a:spcPct val="106000"/>
              </a:lnSpc>
              <a:spcAft>
                <a:spcPts val="9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hacking — the policy may exploit verifier blind spots</a:t>
            </a:r>
          </a:p>
          <a:p>
            <a:pPr marL="200000" indent="-200000">
              <a:lnSpc>
                <a:spcPct val="106000"/>
              </a:lnSpc>
              <a:spcAft>
                <a:spcPts val="900"/>
              </a:spcAft>
              <a:buSzPct val="100000"/>
              <a:buFont typeface="Calibri" pitchFamily="34" charset="0"/>
              <a:buChar char="•"/>
            </a:pPr>
            <a:r>
              <a:rPr lang="en-US" sz="1100" dirty="0">
                <a:solidFill>
                  <a:srgbClr val="56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 between training trajectories and deployment</a:t>
            </a:r>
          </a:p>
        </p:txBody>
      </p:sp>
      <p:sp>
        <p:nvSpPr>
          <p:cNvPr id="26" name="Text 2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  ·   Neha Anna John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3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C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914400" cy="365760"/>
          </a:xfrm>
          <a:prstGeom prst="line">
            <a:avLst/>
          </a:prstGeom>
          <a:noFill/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80160" y="1097280"/>
            <a:ext cx="274320" cy="640080"/>
          </a:xfrm>
          <a:prstGeom prst="line">
            <a:avLst/>
          </a:prstGeom>
          <a:noFill/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1051560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783080" y="1417320"/>
            <a:ext cx="128016" cy="128016"/>
          </a:xfrm>
          <a:prstGeom prst="ellipse">
            <a:avLst/>
          </a:prstGeom>
          <a:solidFill>
            <a:srgbClr val="B07A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4440" y="1691640"/>
            <a:ext cx="128016" cy="128016"/>
          </a:xfrm>
          <a:prstGeom prst="ellipse">
            <a:avLst/>
          </a:prstGeom>
          <a:solidFill>
            <a:srgbClr val="93A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7" name="Text 13"/>
          <p:cNvSpPr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Anna John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3995</Words>
  <Application>Microsoft Macintosh PowerPoint</Application>
  <PresentationFormat>Widescreen</PresentationFormat>
  <Paragraphs>598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Research Agent</dc:title>
  <dc:subject>PptxGenJS Presentation</dc:subject>
  <dc:creator>Neha Anna John</dc:creator>
  <cp:lastModifiedBy>Anna John, Neha</cp:lastModifiedBy>
  <cp:revision>4</cp:revision>
  <dcterms:created xsi:type="dcterms:W3CDTF">2026-06-14T20:23:22Z</dcterms:created>
  <dcterms:modified xsi:type="dcterms:W3CDTF">2026-06-16T01:41:44Z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2026-06-15T00:24:54Z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0b857d45-fcc1-4853-a3d6-90071a7acb09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